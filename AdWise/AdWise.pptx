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64865" y="4013895"/>
            <a:ext cx="16158270" cy="107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sz="5562">
                <a:solidFill>
                  <a:srgbClr val="FDC4C4"/>
                </a:solidFill>
                <a:latin typeface="Arimo"/>
                <a:ea typeface="Arimo"/>
                <a:cs typeface="Arimo"/>
                <a:sym typeface="Arimo"/>
              </a:rPr>
              <a:t>AdWise: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Smart Ad Solutions for Small Businesses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315545"/>
            <a:ext cx="16303526" cy="76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4"/>
              </a:lnSpc>
            </a:pPr>
            <a:r>
              <a:rPr lang="en-US" sz="275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Unlocking Growth for Indie Creators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25169" y="552896"/>
            <a:ext cx="8437512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</a:pPr>
            <a:r>
              <a:rPr lang="en-US" sz="3875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Our Team: HumanKit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3472" y="1666280"/>
            <a:ext cx="16541055" cy="54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193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Dedicated to transforming digital advertising for the underserved.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53247" y="5889457"/>
            <a:ext cx="8161286" cy="2994720"/>
            <a:chOff x="0" y="0"/>
            <a:chExt cx="10881715" cy="39929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881741" cy="3993007"/>
            </a:xfrm>
            <a:custGeom>
              <a:avLst/>
              <a:gdLst/>
              <a:ahLst/>
              <a:cxnLst/>
              <a:rect r="r" b="b" t="t" l="l"/>
              <a:pathLst>
                <a:path h="3993007" w="10881741">
                  <a:moveTo>
                    <a:pt x="0" y="0"/>
                  </a:moveTo>
                  <a:lnTo>
                    <a:pt x="10881741" y="0"/>
                  </a:lnTo>
                  <a:lnTo>
                    <a:pt x="10881741" y="3993007"/>
                  </a:lnTo>
                  <a:lnTo>
                    <a:pt x="0" y="3993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49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083" y="5889457"/>
            <a:ext cx="8161286" cy="2994720"/>
            <a:chOff x="0" y="0"/>
            <a:chExt cx="10881715" cy="399296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881741" cy="3993007"/>
            </a:xfrm>
            <a:custGeom>
              <a:avLst/>
              <a:gdLst/>
              <a:ahLst/>
              <a:cxnLst/>
              <a:rect r="r" b="b" t="t" l="l"/>
              <a:pathLst>
                <a:path h="3993007" w="10881741">
                  <a:moveTo>
                    <a:pt x="0" y="0"/>
                  </a:moveTo>
                  <a:lnTo>
                    <a:pt x="10881741" y="0"/>
                  </a:lnTo>
                  <a:lnTo>
                    <a:pt x="10881741" y="3993007"/>
                  </a:lnTo>
                  <a:lnTo>
                    <a:pt x="0" y="3993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9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3472" y="9168110"/>
            <a:ext cx="16541055" cy="43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56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Connect with us to empower the next generation of small business success.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2449" y="2679669"/>
            <a:ext cx="15779625" cy="60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312">
                <a:solidFill>
                  <a:srgbClr val="C8C7FF"/>
                </a:solidFill>
                <a:latin typeface="Arimo"/>
                <a:ea typeface="Arimo"/>
                <a:cs typeface="Arimo"/>
                <a:sym typeface="Arimo"/>
              </a:rPr>
              <a:t>Anushka Sharma								Arpit Garg		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2442" y="3343319"/>
            <a:ext cx="157796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2310991784												  				  		2310991623																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7449" y="4227419"/>
            <a:ext cx="15779625" cy="60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312">
                <a:solidFill>
                  <a:srgbClr val="C8C7FF"/>
                </a:solidFill>
                <a:latin typeface="Arimo"/>
                <a:ea typeface="Arimo"/>
                <a:cs typeface="Arimo"/>
                <a:sym typeface="Arimo"/>
              </a:rPr>
              <a:t>Diksha Kumari											Sajjal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7442" y="4891038"/>
            <a:ext cx="15779625" cy="68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2310991649																        	2310992357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08675" y="1683544"/>
            <a:ext cx="5670649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Our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1600" y="2561481"/>
            <a:ext cx="12204799" cy="147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768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Empowering Every Creator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14230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We believe powerful marketing should be accessible to all, not just big brands.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239196"/>
            <a:ext cx="5245447" cy="3221385"/>
            <a:chOff x="0" y="0"/>
            <a:chExt cx="6993930" cy="429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238498"/>
                  </a:lnTo>
                  <a:cubicBezTo>
                    <a:pt x="6993890" y="4269867"/>
                    <a:pt x="6968490" y="4295140"/>
                    <a:pt x="6937248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5755" y="5522714"/>
            <a:ext cx="850552" cy="850552"/>
            <a:chOff x="0" y="0"/>
            <a:chExt cx="1134070" cy="113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09712" y="5708749"/>
            <a:ext cx="382637" cy="478334"/>
            <a:chOff x="0" y="0"/>
            <a:chExt cx="510183" cy="63777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2" b="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5755" y="6552010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Innovation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755" y="7117408"/>
            <a:ext cx="4678412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Pioneering AI-driven ad insights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21202" y="5239196"/>
            <a:ext cx="5245447" cy="3221385"/>
            <a:chOff x="0" y="0"/>
            <a:chExt cx="6993930" cy="4295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238498"/>
                  </a:lnTo>
                  <a:cubicBezTo>
                    <a:pt x="6993890" y="4269867"/>
                    <a:pt x="6968490" y="4295140"/>
                    <a:pt x="6937248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04720" y="5522714"/>
            <a:ext cx="850552" cy="850552"/>
            <a:chOff x="0" y="0"/>
            <a:chExt cx="1134070" cy="1134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38677" y="5708749"/>
            <a:ext cx="382637" cy="478334"/>
            <a:chOff x="0" y="0"/>
            <a:chExt cx="510183" cy="63777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" b="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04720" y="6552010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Accessibility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4720" y="7117408"/>
            <a:ext cx="4678412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Making pro tools affordable for all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50166" y="5239196"/>
            <a:ext cx="5245447" cy="3221385"/>
            <a:chOff x="0" y="0"/>
            <a:chExt cx="6993930" cy="42951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890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238498"/>
                  </a:lnTo>
                  <a:cubicBezTo>
                    <a:pt x="6993890" y="4269867"/>
                    <a:pt x="6968490" y="4295140"/>
                    <a:pt x="6937248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33685" y="5522714"/>
            <a:ext cx="850553" cy="850552"/>
            <a:chOff x="0" y="0"/>
            <a:chExt cx="1134070" cy="1134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67642" y="5708749"/>
            <a:ext cx="382638" cy="478334"/>
            <a:chOff x="0" y="0"/>
            <a:chExt cx="510183" cy="63777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10159" cy="637794"/>
            </a:xfrm>
            <a:custGeom>
              <a:avLst/>
              <a:gdLst/>
              <a:ahLst/>
              <a:cxnLst/>
              <a:rect r="r" b="b" t="t" l="l"/>
              <a:pathLst>
                <a:path h="637794" w="510159">
                  <a:moveTo>
                    <a:pt x="0" y="0"/>
                  </a:moveTo>
                  <a:lnTo>
                    <a:pt x="510159" y="0"/>
                  </a:lnTo>
                  <a:lnTo>
                    <a:pt x="510159" y="637794"/>
                  </a:lnTo>
                  <a:lnTo>
                    <a:pt x="0" y="637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2" b="2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33685" y="6552010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Growth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3685" y="7117408"/>
            <a:ext cx="4678413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Maximising ROI for small businesses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478685" y="2261741"/>
            <a:ext cx="9330481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The Challenge for Small Businesses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27971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Navigating digital advertising can feel like a maze, especially for new market entrants.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878140"/>
            <a:ext cx="5245447" cy="3004245"/>
            <a:chOff x="0" y="0"/>
            <a:chExt cx="6993930" cy="4005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4840040"/>
            <a:ext cx="5245447" cy="152400"/>
            <a:chOff x="0" y="0"/>
            <a:chExt cx="699393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4017" cy="203327"/>
            </a:xfrm>
            <a:custGeom>
              <a:avLst/>
              <a:gdLst/>
              <a:ahLst/>
              <a:cxnLst/>
              <a:rect r="r" b="b" t="t" l="l"/>
              <a:pathLst>
                <a:path h="203327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89610" y="4452937"/>
            <a:ext cx="850552" cy="850553"/>
            <a:chOff x="0" y="0"/>
            <a:chExt cx="1134070" cy="1134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444701" y="4465587"/>
            <a:ext cx="340221" cy="62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5" y="5482084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Budget Blind Spots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855" y="6047482"/>
            <a:ext cx="4602212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Unsure how much to invest in ads, leading to wasted spend or missed opportunities.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21202" y="4878140"/>
            <a:ext cx="5245447" cy="3004245"/>
            <a:chOff x="0" y="0"/>
            <a:chExt cx="6993930" cy="4005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21202" y="4840040"/>
            <a:ext cx="5245447" cy="152400"/>
            <a:chOff x="0" y="0"/>
            <a:chExt cx="6993930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4017" cy="203327"/>
            </a:xfrm>
            <a:custGeom>
              <a:avLst/>
              <a:gdLst/>
              <a:ahLst/>
              <a:cxnLst/>
              <a:rect r="r" b="b" t="t" l="l"/>
              <a:pathLst>
                <a:path h="203327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18575" y="4452937"/>
            <a:ext cx="850552" cy="850553"/>
            <a:chOff x="0" y="0"/>
            <a:chExt cx="1134070" cy="11340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973666" y="4465587"/>
            <a:ext cx="340221" cy="62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2820" y="5482084"/>
            <a:ext cx="359286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Audience Uncertainty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42820" y="6047482"/>
            <a:ext cx="4602212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Struggling to define and reach the right customers for their unique products.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50166" y="4878140"/>
            <a:ext cx="5245447" cy="3004245"/>
            <a:chOff x="0" y="0"/>
            <a:chExt cx="6993930" cy="40056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50166" y="4840040"/>
            <a:ext cx="5245447" cy="152400"/>
            <a:chOff x="0" y="0"/>
            <a:chExt cx="6993930" cy="20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94017" cy="203327"/>
            </a:xfrm>
            <a:custGeom>
              <a:avLst/>
              <a:gdLst/>
              <a:ahLst/>
              <a:cxnLst/>
              <a:rect r="r" b="b" t="t" l="l"/>
              <a:pathLst>
                <a:path h="203327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146558"/>
                  </a:lnTo>
                  <a:cubicBezTo>
                    <a:pt x="6994017" y="177927"/>
                    <a:pt x="6968617" y="203327"/>
                    <a:pt x="6937248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47540" y="4452937"/>
            <a:ext cx="850553" cy="850553"/>
            <a:chOff x="0" y="0"/>
            <a:chExt cx="1134070" cy="11340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DC4C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502631" y="4465587"/>
            <a:ext cx="340221" cy="62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6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1784" y="5482084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Performance Puzzle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71784" y="6047482"/>
            <a:ext cx="4602213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Lack of clear data to learn from past campaigns and optimise future 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903214"/>
            <a:ext cx="5670649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Our Solution: AdWise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781151"/>
            <a:ext cx="9445526" cy="270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7687">
                <a:solidFill>
                  <a:srgbClr val="FDC4C4"/>
                </a:solidFill>
                <a:latin typeface="Arimo"/>
                <a:ea typeface="Arimo"/>
                <a:cs typeface="Arimo"/>
                <a:sym typeface="Arimo"/>
              </a:rPr>
              <a:t>AI-Powered</a:t>
            </a:r>
            <a:r>
              <a:rPr lang="en-US" sz="768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Ad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756671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AdWise transforms complex ad data into simple, actionable insights.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529239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Learn from past campaign outcomes.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081986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Receive AI-driven recommendations for optimal ad spend.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634734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Identify precise target audiences for your product type.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08675" y="2678460"/>
            <a:ext cx="5670649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Target Audience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44690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Empowering the next wave of digital entrepreneurs.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869656"/>
            <a:ext cx="708720" cy="708720"/>
            <a:chOff x="0" y="0"/>
            <a:chExt cx="944960" cy="9449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4" b="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55316" y="4933206"/>
            <a:ext cx="359241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Indie Makers &amp; Artists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5316" y="5498604"/>
            <a:ext cx="4135190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Especially beginner crochet sellers and other craftspeople new to online marketing.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4866" y="4869656"/>
            <a:ext cx="708720" cy="708720"/>
            <a:chOff x="0" y="0"/>
            <a:chExt cx="944960" cy="94496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607945" y="4933206"/>
            <a:ext cx="3791545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Small Business Owners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7945" y="5498604"/>
            <a:ext cx="4135190" cy="196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Entrepreneurs seeking affordable, effective marketing solutions to grow their presence.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97494" y="4869656"/>
            <a:ext cx="708720" cy="708720"/>
            <a:chOff x="0" y="0"/>
            <a:chExt cx="944960" cy="94496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160574" y="4933206"/>
            <a:ext cx="3544044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Digital Newcomers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60574" y="5498604"/>
            <a:ext cx="4135190" cy="196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Those lacking extensive marketing knowledge or budget for traditional agencies.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255097" y="2718346"/>
            <a:ext cx="5777805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Opportunity &amp;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84575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Bridging the gap between creative passion and market success.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3632" y="4795242"/>
            <a:ext cx="4252912" cy="6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312">
                <a:solidFill>
                  <a:srgbClr val="C8C7FF"/>
                </a:solidFill>
                <a:latin typeface="Arimo"/>
                <a:ea typeface="Arimo"/>
                <a:cs typeface="Arimo"/>
                <a:sym typeface="Arimo"/>
              </a:rPr>
              <a:t>Affordable Expertise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2" y="5458866"/>
            <a:ext cx="4276874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Replacing costly human ad strategists with an intelligent, accessible app.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6260" y="4795242"/>
            <a:ext cx="4252912" cy="6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312">
                <a:solidFill>
                  <a:srgbClr val="C8C7FF"/>
                </a:solidFill>
                <a:latin typeface="Arimo"/>
                <a:ea typeface="Arimo"/>
                <a:cs typeface="Arimo"/>
                <a:sym typeface="Arimo"/>
              </a:rPr>
              <a:t>Maximized ROI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66260" y="5458866"/>
            <a:ext cx="4276874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Driving optimal results: more orders, higher views, and tangible growth for users.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18889" y="4795242"/>
            <a:ext cx="4252912" cy="6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312">
                <a:solidFill>
                  <a:srgbClr val="C8C7FF"/>
                </a:solidFill>
                <a:latin typeface="Arimo"/>
                <a:ea typeface="Arimo"/>
                <a:cs typeface="Arimo"/>
                <a:sym typeface="Arimo"/>
              </a:rPr>
              <a:t>Market Dominance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18889" y="5458866"/>
            <a:ext cx="4276874" cy="196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Tapping into the rapidly expanding indie creator economy with a unique value proposition.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29710" y="521047"/>
            <a:ext cx="4828580" cy="74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3749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Core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4897" y="1626394"/>
            <a:ext cx="1659820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1874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Understanding the nuanced needs of our users.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85864" y="2407890"/>
            <a:ext cx="13516124" cy="7233642"/>
            <a:chOff x="0" y="0"/>
            <a:chExt cx="18021498" cy="964485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021554" cy="9644888"/>
            </a:xfrm>
            <a:custGeom>
              <a:avLst/>
              <a:gdLst/>
              <a:ahLst/>
              <a:cxnLst/>
              <a:rect r="r" b="b" t="t" l="l"/>
              <a:pathLst>
                <a:path h="9644888" w="18021554">
                  <a:moveTo>
                    <a:pt x="0" y="0"/>
                  </a:moveTo>
                  <a:lnTo>
                    <a:pt x="18021554" y="0"/>
                  </a:lnTo>
                  <a:lnTo>
                    <a:pt x="18021554" y="9644888"/>
                  </a:lnTo>
                  <a:lnTo>
                    <a:pt x="0" y="9644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7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29394" y="3035136"/>
            <a:ext cx="3734502" cy="5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Ad Spend Guesswork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58010" y="3168014"/>
            <a:ext cx="331956" cy="331955"/>
            <a:chOff x="0" y="0"/>
            <a:chExt cx="442608" cy="44260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42595" cy="442595"/>
            </a:xfrm>
            <a:custGeom>
              <a:avLst/>
              <a:gdLst/>
              <a:ahLst/>
              <a:cxnLst/>
              <a:rect r="r" b="b" t="t" l="l"/>
              <a:pathLst>
                <a:path h="442595" w="442595">
                  <a:moveTo>
                    <a:pt x="0" y="0"/>
                  </a:moveTo>
                  <a:lnTo>
                    <a:pt x="442595" y="0"/>
                  </a:lnTo>
                  <a:lnTo>
                    <a:pt x="442595" y="442595"/>
                  </a:lnTo>
                  <a:lnTo>
                    <a:pt x="0" y="44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629394" y="4362960"/>
            <a:ext cx="3734502" cy="5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Vague Targeting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58010" y="4495838"/>
            <a:ext cx="331956" cy="331955"/>
            <a:chOff x="0" y="0"/>
            <a:chExt cx="442608" cy="44260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42595" cy="442595"/>
            </a:xfrm>
            <a:custGeom>
              <a:avLst/>
              <a:gdLst/>
              <a:ahLst/>
              <a:cxnLst/>
              <a:rect r="r" b="b" t="t" l="l"/>
              <a:pathLst>
                <a:path h="442595" w="442595">
                  <a:moveTo>
                    <a:pt x="0" y="0"/>
                  </a:moveTo>
                  <a:lnTo>
                    <a:pt x="442595" y="0"/>
                  </a:lnTo>
                  <a:lnTo>
                    <a:pt x="442595" y="442595"/>
                  </a:lnTo>
                  <a:lnTo>
                    <a:pt x="0" y="44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629394" y="5690782"/>
            <a:ext cx="3734502" cy="5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Overwhelming Data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58010" y="5823660"/>
            <a:ext cx="331956" cy="331956"/>
            <a:chOff x="0" y="0"/>
            <a:chExt cx="442608" cy="44260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42595" cy="442595"/>
            </a:xfrm>
            <a:custGeom>
              <a:avLst/>
              <a:gdLst/>
              <a:ahLst/>
              <a:cxnLst/>
              <a:rect r="r" b="b" t="t" l="l"/>
              <a:pathLst>
                <a:path h="442595" w="442595">
                  <a:moveTo>
                    <a:pt x="0" y="0"/>
                  </a:moveTo>
                  <a:lnTo>
                    <a:pt x="442595" y="0"/>
                  </a:lnTo>
                  <a:lnTo>
                    <a:pt x="442595" y="442595"/>
                  </a:lnTo>
                  <a:lnTo>
                    <a:pt x="0" y="44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629394" y="7018605"/>
            <a:ext cx="3734502" cy="5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Lack of Time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58010" y="7151482"/>
            <a:ext cx="331956" cy="331956"/>
            <a:chOff x="0" y="0"/>
            <a:chExt cx="442608" cy="44260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42595" cy="442595"/>
            </a:xfrm>
            <a:custGeom>
              <a:avLst/>
              <a:gdLst/>
              <a:ahLst/>
              <a:cxnLst/>
              <a:rect r="r" b="b" t="t" l="l"/>
              <a:pathLst>
                <a:path h="442595" w="442595">
                  <a:moveTo>
                    <a:pt x="0" y="0"/>
                  </a:moveTo>
                  <a:lnTo>
                    <a:pt x="442595" y="0"/>
                  </a:lnTo>
                  <a:lnTo>
                    <a:pt x="442595" y="442595"/>
                  </a:lnTo>
                  <a:lnTo>
                    <a:pt x="0" y="44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629394" y="8363026"/>
            <a:ext cx="3734502" cy="5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Fear of Failure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58010" y="8495904"/>
            <a:ext cx="331956" cy="331955"/>
            <a:chOff x="0" y="0"/>
            <a:chExt cx="442608" cy="44260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42595" cy="442595"/>
            </a:xfrm>
            <a:custGeom>
              <a:avLst/>
              <a:gdLst/>
              <a:ahLst/>
              <a:cxnLst/>
              <a:rect r="r" b="b" t="t" l="l"/>
              <a:pathLst>
                <a:path h="442595" w="442595">
                  <a:moveTo>
                    <a:pt x="0" y="0"/>
                  </a:moveTo>
                  <a:lnTo>
                    <a:pt x="442595" y="0"/>
                  </a:lnTo>
                  <a:lnTo>
                    <a:pt x="442595" y="442595"/>
                  </a:lnTo>
                  <a:lnTo>
                    <a:pt x="0" y="442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44897" y="9789170"/>
            <a:ext cx="1659820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1874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AdWise addresses both surface-level problems and underlying anxieties.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2238226"/>
            <a:ext cx="7990880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Minimal Viable Product (MVP)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116164"/>
            <a:ext cx="9445526" cy="147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7687">
                <a:solidFill>
                  <a:srgbClr val="FDC4C4"/>
                </a:solidFill>
                <a:latin typeface="Arimo"/>
                <a:ea typeface="Arimo"/>
                <a:cs typeface="Arimo"/>
                <a:sym typeface="Arimo"/>
              </a:rPr>
              <a:t>Focused</a:t>
            </a:r>
            <a:r>
              <a:rPr lang="en-US" sz="768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868912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Our initial offering concentrates on core functionalities: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641479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Basic ad campaign setup and tracking.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6194226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AI-powered budget allocation recommendations.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6746974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Audience targeting suggestions based on product category.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7" y="7299723"/>
            <a:ext cx="9445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4274"/>
              </a:lnSpc>
              <a:buFont typeface="Arial"/>
              <a:buChar char="•"/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Simple performance analytics and past outcome learning.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08675" y="2615654"/>
            <a:ext cx="5670649" cy="85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4"/>
              </a:lnSpc>
            </a:pPr>
            <a:r>
              <a:rPr lang="en-US" sz="4437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Why iOS?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81884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Tapping into a premium and engaged user base.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909542"/>
            <a:ext cx="7805886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187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User Demographics: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iOS users often have higher disposable income, aligning with small business owners investing in growth.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369546"/>
            <a:ext cx="7805886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187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App Store Ecosystem: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Robust platform for discovery and secure transactions.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1" y="4909542"/>
            <a:ext cx="7805886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187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Performance &amp; Design: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Enables a smooth, intuitive, and visually appealing user experience critical for complex data tools.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401" y="6369546"/>
            <a:ext cx="7805886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b="true" sz="2187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Security &amp; Privacy: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Apple's strong emphasis on user data protection builds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DAGwfLKpEfU</dc:identifier>
  <dcterms:modified xsi:type="dcterms:W3CDTF">2011-08-01T06:04:30Z</dcterms:modified>
  <cp:revision>1</cp:revision>
  <dc:title>2310991784 2310991623</dc:title>
</cp:coreProperties>
</file>